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74"/>
  </p:normalViewPr>
  <p:slideViewPr>
    <p:cSldViewPr snapToGrid="0">
      <p:cViewPr>
        <p:scale>
          <a:sx n="108" d="100"/>
          <a:sy n="108" d="100"/>
        </p:scale>
        <p:origin x="640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76F8DEA-FE96-6C45-8D86-CCA8EA7CEA3D}" type="datetimeFigureOut">
              <a:rPr lang="ar-SA" smtClean="0"/>
              <a:t>23 رمضان، 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3D60C02-4475-044D-A9CA-B4F74F370EB9}" type="slidenum">
              <a:rPr lang="ar-SA" smtClean="0"/>
              <a:t>‹#›</a:t>
            </a:fld>
            <a:endParaRPr lang="ar-SA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379490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F8DEA-FE96-6C45-8D86-CCA8EA7CEA3D}" type="datetimeFigureOut">
              <a:rPr lang="ar-SA" smtClean="0"/>
              <a:t>23 رمضان، 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60C02-4475-044D-A9CA-B4F74F370EB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53313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F8DEA-FE96-6C45-8D86-CCA8EA7CEA3D}" type="datetimeFigureOut">
              <a:rPr lang="ar-SA" smtClean="0"/>
              <a:t>23 رمضان، 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D60C02-4475-044D-A9CA-B4F74F370EB9}" type="slidenum">
              <a:rPr lang="ar-SA" smtClean="0"/>
              <a:t>‹#›</a:t>
            </a:fld>
            <a:endParaRPr lang="ar-SA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543814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F8DEA-FE96-6C45-8D86-CCA8EA7CEA3D}" type="datetimeFigureOut">
              <a:rPr lang="ar-SA" smtClean="0"/>
              <a:t>23 رمضان، 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60C02-4475-044D-A9CA-B4F74F370EB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89619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F8DEA-FE96-6C45-8D86-CCA8EA7CEA3D}" type="datetimeFigureOut">
              <a:rPr lang="ar-SA" smtClean="0"/>
              <a:t>23 رمضان، 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60C02-4475-044D-A9CA-B4F74F370EB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06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F8DEA-FE96-6C45-8D86-CCA8EA7CEA3D}" type="datetimeFigureOut">
              <a:rPr lang="ar-SA" smtClean="0"/>
              <a:t>23 رمضان، 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60C02-4475-044D-A9CA-B4F74F370EB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06034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F8DEA-FE96-6C45-8D86-CCA8EA7CEA3D}" type="datetimeFigureOut">
              <a:rPr lang="ar-SA" smtClean="0"/>
              <a:t>23 رمضان، 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60C02-4475-044D-A9CA-B4F74F370EB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86729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F8DEA-FE96-6C45-8D86-CCA8EA7CEA3D}" type="datetimeFigureOut">
              <a:rPr lang="ar-SA" smtClean="0"/>
              <a:t>23 رمضان، 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D60C02-4475-044D-A9CA-B4F74F370EB9}" type="slidenum">
              <a:rPr lang="ar-SA" smtClean="0"/>
              <a:t>‹#›</a:t>
            </a:fld>
            <a:endParaRPr lang="ar-SA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62019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F8DEA-FE96-6C45-8D86-CCA8EA7CEA3D}" type="datetimeFigureOut">
              <a:rPr lang="ar-SA" smtClean="0"/>
              <a:t>23 رمضان، 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D60C02-4475-044D-A9CA-B4F74F370EB9}" type="slidenum">
              <a:rPr lang="ar-SA" smtClean="0"/>
              <a:t>‹#›</a:t>
            </a:fld>
            <a:endParaRPr lang="ar-SA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8832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F8DEA-FE96-6C45-8D86-CCA8EA7CEA3D}" type="datetimeFigureOut">
              <a:rPr lang="ar-SA" smtClean="0"/>
              <a:t>23 رمضان، 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60C02-4475-044D-A9CA-B4F74F370EB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98869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F8DEA-FE96-6C45-8D86-CCA8EA7CEA3D}" type="datetimeFigureOut">
              <a:rPr lang="ar-SA" smtClean="0"/>
              <a:t>23 رمضان، 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60C02-4475-044D-A9CA-B4F74F370EB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17953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76F8DEA-FE96-6C45-8D86-CCA8EA7CEA3D}" type="datetimeFigureOut">
              <a:rPr lang="ar-SA" smtClean="0"/>
              <a:t>23 رمضان، 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3D60C02-4475-044D-A9CA-B4F74F370EB9}" type="slidenum">
              <a:rPr lang="ar-SA" smtClean="0"/>
              <a:t>‹#›</a:t>
            </a:fld>
            <a:endParaRPr lang="ar-SA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917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1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r" defTabSz="914400" rtl="1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r" defTabSz="914400" rtl="1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8490EEC-AF05-F887-4A55-A202BE5DA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89913"/>
          </a:xfrm>
        </p:spPr>
        <p:txBody>
          <a:bodyPr>
            <a:normAutofit/>
          </a:bodyPr>
          <a:lstStyle/>
          <a:p>
            <a:r>
              <a:rPr lang="en" sz="4400" b="1" dirty="0"/>
              <a:t>Agentic AI Case Study: </a:t>
            </a:r>
            <a:r>
              <a:rPr lang="en" sz="4400" b="1" dirty="0" err="1"/>
              <a:t>Captide</a:t>
            </a:r>
            <a:endParaRPr lang="en" sz="4400" dirty="0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FCC556F0-EBDF-1DA1-22C9-585BD58C6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59117"/>
            <a:ext cx="9144000" cy="2995449"/>
          </a:xfrm>
        </p:spPr>
        <p:txBody>
          <a:bodyPr>
            <a:normAutofit fontScale="92500" lnSpcReduction="20000"/>
          </a:bodyPr>
          <a:lstStyle/>
          <a:p>
            <a:pPr algn="l" rtl="0"/>
            <a:r>
              <a:rPr lang="en" dirty="0"/>
              <a:t>Company: </a:t>
            </a:r>
            <a:r>
              <a:rPr lang="en" dirty="0" err="1"/>
              <a:t>Captide</a:t>
            </a:r>
            <a:br>
              <a:rPr lang="en" dirty="0"/>
            </a:br>
            <a:r>
              <a:rPr lang="en" dirty="0"/>
              <a:t>Industry: Financial Technology (FinTech)</a:t>
            </a:r>
            <a:br>
              <a:rPr lang="en" dirty="0"/>
            </a:br>
            <a:r>
              <a:rPr lang="en" dirty="0"/>
              <a:t>Use Case: AI-powered equity research and financial analysis</a:t>
            </a:r>
          </a:p>
          <a:p>
            <a:pPr algn="l" rtl="0"/>
            <a:r>
              <a:rPr lang="en" dirty="0"/>
              <a:t>Name: Alaa Alharbi</a:t>
            </a:r>
            <a:br>
              <a:rPr lang="en" dirty="0"/>
            </a:br>
            <a:r>
              <a:rPr lang="en" dirty="0"/>
              <a:t>University: Princess Nourah </a:t>
            </a:r>
            <a:r>
              <a:rPr lang="en" dirty="0" err="1"/>
              <a:t>bint</a:t>
            </a:r>
            <a:r>
              <a:rPr lang="en" dirty="0"/>
              <a:t> Abdulrahman University</a:t>
            </a:r>
            <a:br>
              <a:rPr lang="en" dirty="0"/>
            </a:br>
            <a:r>
              <a:rPr lang="en" dirty="0"/>
              <a:t>Major: data science</a:t>
            </a:r>
            <a:br>
              <a:rPr lang="en" dirty="0"/>
            </a:br>
            <a:r>
              <a:rPr lang="en" dirty="0"/>
              <a:t>Department: Computer Science</a:t>
            </a:r>
            <a:r>
              <a:rPr lang="ar-SA" dirty="0"/>
              <a:t> </a:t>
            </a:r>
            <a:endParaRPr lang="en" dirty="0"/>
          </a:p>
          <a:p>
            <a:pPr algn="l" rtl="0"/>
            <a:r>
              <a:rPr lang="en" dirty="0"/>
              <a:t>Reference:</a:t>
            </a:r>
            <a:br>
              <a:rPr lang="en" dirty="0"/>
            </a:br>
            <a:r>
              <a:rPr lang="en" dirty="0" err="1"/>
              <a:t>LangChain</a:t>
            </a:r>
            <a:r>
              <a:rPr lang="en" dirty="0"/>
              <a:t> Blog – </a:t>
            </a:r>
            <a:r>
              <a:rPr lang="en" dirty="0" err="1"/>
              <a:t>Captide</a:t>
            </a:r>
            <a:r>
              <a:rPr lang="en" dirty="0"/>
              <a:t> Case Study</a:t>
            </a: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411152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83D620E-DC7D-2E3F-0E5B-02A2AA95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 err="1"/>
              <a:t>Captide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89C453F-9028-895C-66F6-270C4613E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endParaRPr lang="en" b="1" dirty="0"/>
          </a:p>
          <a:p>
            <a:pPr algn="l" rtl="0"/>
            <a:r>
              <a:rPr lang="en" dirty="0" err="1"/>
              <a:t>Captide</a:t>
            </a:r>
            <a:r>
              <a:rPr lang="en" dirty="0"/>
              <a:t> is an AI-powered financial research platform designed to help analysts extract insights from large volumes of financial documents.</a:t>
            </a:r>
          </a:p>
          <a:p>
            <a:pPr algn="l" rtl="0"/>
            <a:r>
              <a:rPr lang="en" dirty="0"/>
              <a:t>The system processes financial disclosures and reports from </a:t>
            </a:r>
            <a:r>
              <a:rPr lang="en" b="1" dirty="0"/>
              <a:t>thousands of public companies</a:t>
            </a:r>
            <a:r>
              <a:rPr lang="en" dirty="0"/>
              <a:t> to help investment teams perform equity research faster. 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195342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C03B604-C857-E1CA-8A9A-3A3657F7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" b="1" dirty="0"/>
              <a:t>Industry: Finance / Investment Research</a:t>
            </a:r>
            <a:br>
              <a:rPr lang="en" b="1" dirty="0"/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430B312-714F-CEB8-1788-447CE182A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" dirty="0"/>
              <a:t>Equity research analysts typically analyze:</a:t>
            </a:r>
          </a:p>
          <a:p>
            <a:pPr algn="l" rtl="0"/>
            <a:r>
              <a:rPr lang="en" dirty="0"/>
              <a:t>Company filings</a:t>
            </a:r>
          </a:p>
          <a:p>
            <a:pPr algn="l" rtl="0"/>
            <a:r>
              <a:rPr lang="en" dirty="0"/>
              <a:t>Earnings reports</a:t>
            </a:r>
          </a:p>
          <a:p>
            <a:pPr algn="l" rtl="0"/>
            <a:r>
              <a:rPr lang="en" dirty="0"/>
              <a:t>Investor presentations</a:t>
            </a:r>
          </a:p>
          <a:p>
            <a:pPr algn="l" rtl="0"/>
            <a:r>
              <a:rPr lang="en" dirty="0"/>
              <a:t>Financial statements</a:t>
            </a:r>
          </a:p>
          <a:p>
            <a:pPr algn="l" rtl="0"/>
            <a:r>
              <a:rPr lang="en" dirty="0"/>
              <a:t>These documents are large and complex, making the research process slow and manual.</a:t>
            </a:r>
          </a:p>
          <a:p>
            <a:pPr algn="l" rtl="0"/>
            <a:r>
              <a:rPr lang="en" dirty="0"/>
              <a:t>Traditionally, analyzing investment data can take </a:t>
            </a:r>
            <a:r>
              <a:rPr lang="en" b="1" dirty="0"/>
              <a:t>days or weeks</a:t>
            </a:r>
            <a:endParaRPr lang="en" dirty="0"/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46352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7FAEA2E-C95D-16C7-CB06-D7A576F35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Investment analysts face several challenges:</a:t>
            </a:r>
            <a:br>
              <a:rPr lang="en" dirty="0"/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080D8F2-05CB-B39F-F359-AC9A97611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" dirty="0"/>
              <a:t>Huge volumes of financial documents</a:t>
            </a:r>
          </a:p>
          <a:p>
            <a:pPr algn="l" rtl="0"/>
            <a:r>
              <a:rPr lang="en" dirty="0"/>
              <a:t>Manual extraction of financial metrics</a:t>
            </a:r>
          </a:p>
          <a:p>
            <a:pPr algn="l" rtl="0"/>
            <a:r>
              <a:rPr lang="en" dirty="0"/>
              <a:t>Slow analysis of company performance</a:t>
            </a:r>
          </a:p>
          <a:p>
            <a:pPr algn="l" rtl="0"/>
            <a:r>
              <a:rPr lang="en" dirty="0"/>
              <a:t>Difficulty comparing companies across datasets</a:t>
            </a:r>
          </a:p>
          <a:p>
            <a:pPr algn="l" rtl="0"/>
            <a:r>
              <a:rPr lang="en" dirty="0"/>
              <a:t>Traditional tools rely on </a:t>
            </a:r>
            <a:r>
              <a:rPr lang="en" b="1" dirty="0"/>
              <a:t>fixed database schemas</a:t>
            </a:r>
            <a:r>
              <a:rPr lang="en" dirty="0"/>
              <a:t> and cannot easily extract insights from unstructured financial text. 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626338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D81089F-2859-9CB2-F6F8-41E5020B7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 err="1"/>
              <a:t>Captide</a:t>
            </a:r>
            <a:r>
              <a:rPr lang="en" b="1" dirty="0"/>
              <a:t> Agentic Platform</a:t>
            </a:r>
            <a:br>
              <a:rPr lang="en" b="1" dirty="0"/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CD2B00F-C1EE-BCD7-5AC4-D154F5AFC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" dirty="0" err="1"/>
              <a:t>Captide</a:t>
            </a:r>
            <a:r>
              <a:rPr lang="en" dirty="0"/>
              <a:t> built an </a:t>
            </a:r>
            <a:r>
              <a:rPr lang="en" b="1" dirty="0"/>
              <a:t>AI-powered system using LangGraph and </a:t>
            </a:r>
            <a:r>
              <a:rPr lang="en" b="1" dirty="0" err="1"/>
              <a:t>LangSmith</a:t>
            </a:r>
            <a:r>
              <a:rPr lang="en" dirty="0"/>
              <a:t> to automate equity research.</a:t>
            </a:r>
          </a:p>
          <a:p>
            <a:pPr algn="l" rtl="0"/>
            <a:r>
              <a:rPr lang="en" dirty="0"/>
              <a:t>The system:</a:t>
            </a:r>
          </a:p>
          <a:p>
            <a:pPr algn="l" rtl="0"/>
            <a:r>
              <a:rPr lang="en" dirty="0"/>
              <a:t>Reads financial filings</a:t>
            </a:r>
          </a:p>
          <a:p>
            <a:pPr algn="l" rtl="0"/>
            <a:r>
              <a:rPr lang="en" dirty="0"/>
              <a:t>Extracts key metrics</a:t>
            </a:r>
          </a:p>
          <a:p>
            <a:pPr algn="l" rtl="0"/>
            <a:r>
              <a:rPr lang="en" dirty="0"/>
              <a:t>Analyzes company performance</a:t>
            </a:r>
          </a:p>
          <a:p>
            <a:pPr algn="l" rtl="0"/>
            <a:r>
              <a:rPr lang="en" dirty="0"/>
              <a:t>Generates insights for analysts</a:t>
            </a:r>
          </a:p>
          <a:p>
            <a:pPr algn="l" rtl="0"/>
            <a:r>
              <a:rPr lang="en" dirty="0"/>
              <a:t>The platform converts </a:t>
            </a:r>
            <a:r>
              <a:rPr lang="en" b="1" dirty="0"/>
              <a:t>user queries into actionable financial insights automatically</a:t>
            </a:r>
            <a:r>
              <a:rPr lang="en" dirty="0"/>
              <a:t>.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029068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52F0270-208E-F357-8258-A4F8B47E5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System Architecture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DE49E70-6845-5E33-4325-722DD6F51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" dirty="0"/>
              <a:t>Main components:</a:t>
            </a:r>
          </a:p>
          <a:p>
            <a:pPr algn="l" rtl="0"/>
            <a:r>
              <a:rPr lang="en" b="1" dirty="0"/>
              <a:t>LLM (Large Language Model)</a:t>
            </a:r>
            <a:endParaRPr lang="en" dirty="0"/>
          </a:p>
          <a:p>
            <a:pPr algn="l" rtl="0"/>
            <a:r>
              <a:rPr lang="en" b="1" dirty="0"/>
              <a:t>LangGraph agent workflows</a:t>
            </a:r>
            <a:endParaRPr lang="en" dirty="0"/>
          </a:p>
          <a:p>
            <a:pPr algn="l" rtl="0"/>
            <a:r>
              <a:rPr lang="en" b="1" dirty="0" err="1"/>
              <a:t>LangSmith</a:t>
            </a:r>
            <a:r>
              <a:rPr lang="en" b="1" dirty="0"/>
              <a:t> monitoring and debugging</a:t>
            </a:r>
            <a:endParaRPr lang="en" dirty="0"/>
          </a:p>
          <a:p>
            <a:pPr algn="l" rtl="0"/>
            <a:r>
              <a:rPr lang="en" b="1" dirty="0"/>
              <a:t>Financial document database</a:t>
            </a:r>
            <a:endParaRPr lang="en" dirty="0"/>
          </a:p>
          <a:p>
            <a:pPr algn="l" rtl="0"/>
            <a:r>
              <a:rPr lang="en" b="1" dirty="0"/>
              <a:t>Data processing pipelines</a:t>
            </a:r>
            <a:endParaRPr lang="en" dirty="0"/>
          </a:p>
          <a:p>
            <a:pPr algn="l" rtl="0"/>
            <a:r>
              <a:rPr lang="en" dirty="0" err="1"/>
              <a:t>Captide</a:t>
            </a:r>
            <a:r>
              <a:rPr lang="en" dirty="0"/>
              <a:t> built </a:t>
            </a:r>
            <a:r>
              <a:rPr lang="en" b="1" dirty="0"/>
              <a:t>domain-specific AI agents</a:t>
            </a:r>
            <a:r>
              <a:rPr lang="en" dirty="0"/>
              <a:t> that read and interpret financial disclosures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55927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8AC8B12-54C6-C013-60AA-ED188279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" b="1" dirty="0"/>
              <a:t>What is Agentic?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8A034F0-BE21-F5EF-6C38-9F7130637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91293"/>
            <a:ext cx="9601200" cy="4678877"/>
          </a:xfrm>
        </p:spPr>
        <p:txBody>
          <a:bodyPr>
            <a:normAutofit/>
          </a:bodyPr>
          <a:lstStyle/>
          <a:p>
            <a:pPr algn="l" rtl="0"/>
            <a:r>
              <a:rPr lang="en" sz="1100" dirty="0"/>
              <a:t>Agentic AI means the system can:</a:t>
            </a:r>
          </a:p>
          <a:p>
            <a:pPr algn="l" rtl="0"/>
            <a:r>
              <a:rPr lang="en" sz="1100" dirty="0"/>
              <a:t>Reason about the problem</a:t>
            </a:r>
          </a:p>
          <a:p>
            <a:pPr algn="l" rtl="0"/>
            <a:r>
              <a:rPr lang="en" sz="1100" dirty="0"/>
              <a:t>Decide which tools to use</a:t>
            </a:r>
          </a:p>
          <a:p>
            <a:pPr algn="l" rtl="0"/>
            <a:r>
              <a:rPr lang="en" sz="1100" dirty="0"/>
              <a:t>Execute multi-step workflows</a:t>
            </a:r>
          </a:p>
          <a:p>
            <a:pPr algn="l" rtl="0"/>
            <a:r>
              <a:rPr lang="en" sz="1100" dirty="0"/>
              <a:t>Produce final insights</a:t>
            </a:r>
          </a:p>
          <a:p>
            <a:pPr algn="l" rtl="0"/>
            <a:endParaRPr lang="en" sz="1100" dirty="0"/>
          </a:p>
          <a:p>
            <a:pPr algn="l" rtl="0"/>
            <a:r>
              <a:rPr lang="en" sz="1100" dirty="0"/>
              <a:t>Example workflow:</a:t>
            </a:r>
          </a:p>
          <a:p>
            <a:pPr marL="0" indent="0" algn="l" rtl="0">
              <a:lnSpc>
                <a:spcPct val="120000"/>
              </a:lnSpc>
              <a:buNone/>
            </a:pPr>
            <a:r>
              <a:rPr lang="en" sz="1100" dirty="0"/>
              <a:t>User Query</a:t>
            </a:r>
            <a:br>
              <a:rPr lang="en" sz="1100" dirty="0"/>
            </a:br>
            <a:r>
              <a:rPr lang="en" sz="1100" dirty="0"/>
              <a:t>↓</a:t>
            </a:r>
            <a:br>
              <a:rPr lang="en" sz="1100" dirty="0"/>
            </a:br>
            <a:r>
              <a:rPr lang="en" sz="1100" dirty="0"/>
              <a:t>Agent analyzes question</a:t>
            </a:r>
            <a:br>
              <a:rPr lang="en" sz="1100" dirty="0"/>
            </a:br>
            <a:r>
              <a:rPr lang="en" sz="1100" dirty="0"/>
              <a:t>↓</a:t>
            </a:r>
            <a:br>
              <a:rPr lang="en" sz="1100" dirty="0"/>
            </a:br>
            <a:r>
              <a:rPr lang="en" sz="1100" dirty="0"/>
              <a:t>Agent retrieves financial filings</a:t>
            </a:r>
            <a:br>
              <a:rPr lang="en" sz="1100" dirty="0"/>
            </a:br>
            <a:r>
              <a:rPr lang="en" sz="1100" dirty="0"/>
              <a:t>↓</a:t>
            </a:r>
            <a:br>
              <a:rPr lang="en" sz="1100" dirty="0"/>
            </a:br>
            <a:r>
              <a:rPr lang="en" sz="1100" dirty="0"/>
              <a:t>Agent extracts metrics</a:t>
            </a:r>
            <a:br>
              <a:rPr lang="en" sz="1100" dirty="0"/>
            </a:br>
            <a:r>
              <a:rPr lang="en" sz="1100" dirty="0"/>
              <a:t>↓</a:t>
            </a:r>
            <a:br>
              <a:rPr lang="en" sz="1100" dirty="0"/>
            </a:br>
            <a:r>
              <a:rPr lang="en" sz="1100" dirty="0"/>
              <a:t>Agent generates financial analysis</a:t>
            </a:r>
          </a:p>
          <a:p>
            <a:pPr lvl="1" algn="l" rtl="0"/>
            <a:endParaRPr lang="en" sz="1050" dirty="0"/>
          </a:p>
          <a:p>
            <a:pPr lvl="1" algn="l" rtl="0"/>
            <a:r>
              <a:rPr lang="en" sz="1050" dirty="0"/>
              <a:t>These AI agents can </a:t>
            </a:r>
            <a:r>
              <a:rPr lang="en" sz="1050" b="1" dirty="0"/>
              <a:t>read, interpret, and reason over financial data automatically</a:t>
            </a:r>
            <a:r>
              <a:rPr lang="en" sz="1050" dirty="0"/>
              <a:t>.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ar-SA" sz="1100" dirty="0"/>
          </a:p>
        </p:txBody>
      </p:sp>
    </p:spTree>
    <p:extLst>
      <p:ext uri="{BB962C8B-B14F-4D97-AF65-F5344CB8AC3E}">
        <p14:creationId xmlns:p14="http://schemas.microsoft.com/office/powerpoint/2010/main" val="622626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01BE78A-89AD-51BF-C45B-89871AAC3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What is NOT Agentic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BEBC512-C4A0-895C-1848-CDAC72F2F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>
              <a:buNone/>
            </a:pPr>
            <a:r>
              <a:rPr lang="en" dirty="0"/>
              <a:t>Non-Agentic components include:</a:t>
            </a:r>
          </a:p>
          <a:p>
            <a:pPr algn="l" rtl="0"/>
            <a:r>
              <a:rPr lang="en" dirty="0"/>
              <a:t>Financial databases</a:t>
            </a:r>
          </a:p>
          <a:p>
            <a:pPr algn="l" rtl="0"/>
            <a:r>
              <a:rPr lang="en" dirty="0"/>
              <a:t>Document storage</a:t>
            </a:r>
          </a:p>
          <a:p>
            <a:pPr algn="l" rtl="0"/>
            <a:r>
              <a:rPr lang="en" dirty="0"/>
              <a:t>APIs</a:t>
            </a:r>
          </a:p>
          <a:p>
            <a:pPr algn="l" rtl="0"/>
            <a:r>
              <a:rPr lang="en" dirty="0"/>
              <a:t>Data pipelines</a:t>
            </a:r>
          </a:p>
          <a:p>
            <a:pPr algn="l" rtl="0"/>
            <a:r>
              <a:rPr lang="en" dirty="0"/>
              <a:t>These components </a:t>
            </a:r>
            <a:r>
              <a:rPr lang="en" b="1" dirty="0"/>
              <a:t>only store or deliver data</a:t>
            </a:r>
            <a:r>
              <a:rPr lang="en" dirty="0"/>
              <a:t> but do not make decisions.</a:t>
            </a:r>
          </a:p>
          <a:p>
            <a:pPr algn="l" rtl="0"/>
            <a:r>
              <a:rPr lang="en" dirty="0"/>
              <a:t>The AI agent uses them as </a:t>
            </a:r>
            <a:r>
              <a:rPr lang="en" b="1" dirty="0"/>
              <a:t>tools</a:t>
            </a:r>
            <a:endParaRPr lang="en" dirty="0"/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919905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84EF23A-688D-8B08-F950-66B63490F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 err="1"/>
              <a:t>Captide’s</a:t>
            </a:r>
            <a:r>
              <a:rPr lang="en" dirty="0"/>
              <a:t> system provides: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88954B2-F94F-6FE6-F55A-CE39772A8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>
              <a:buNone/>
            </a:pPr>
            <a:r>
              <a:rPr lang="en" dirty="0" err="1"/>
              <a:t>Captide’s</a:t>
            </a:r>
            <a:r>
              <a:rPr lang="en" dirty="0"/>
              <a:t> system provides:</a:t>
            </a:r>
          </a:p>
          <a:p>
            <a:pPr algn="l" rtl="0"/>
            <a:r>
              <a:rPr lang="en" dirty="0"/>
              <a:t>Faster investment research</a:t>
            </a:r>
          </a:p>
          <a:p>
            <a:pPr algn="l" rtl="0"/>
            <a:r>
              <a:rPr lang="en" dirty="0"/>
              <a:t>Automated financial analysis</a:t>
            </a:r>
          </a:p>
          <a:p>
            <a:pPr algn="l" rtl="0"/>
            <a:r>
              <a:rPr lang="en" dirty="0"/>
              <a:t>Ability to analyze thousands of companies</a:t>
            </a:r>
          </a:p>
          <a:p>
            <a:pPr algn="l" rtl="0"/>
            <a:r>
              <a:rPr lang="en" dirty="0"/>
              <a:t>Improved productivity for analysts</a:t>
            </a:r>
          </a:p>
          <a:p>
            <a:pPr algn="l" rtl="0"/>
            <a:r>
              <a:rPr lang="en" dirty="0"/>
              <a:t>The system can reduce research time from </a:t>
            </a:r>
            <a:r>
              <a:rPr lang="en" b="1" dirty="0"/>
              <a:t>days to seconds</a:t>
            </a:r>
            <a:r>
              <a:rPr lang="en" dirty="0"/>
              <a:t>. 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54140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37727C8-6D92-154C-9D1C-079C52958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Conclusion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C8D9785-FE7C-E5D1-AE8D-41484E779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" dirty="0" err="1"/>
              <a:t>Captide</a:t>
            </a:r>
            <a:r>
              <a:rPr lang="en" dirty="0"/>
              <a:t> demonstrates how </a:t>
            </a:r>
            <a:r>
              <a:rPr lang="en" b="1" dirty="0"/>
              <a:t>Agentic AI workflows</a:t>
            </a:r>
            <a:r>
              <a:rPr lang="en" dirty="0"/>
              <a:t> can transform financial analysis.</a:t>
            </a:r>
          </a:p>
          <a:p>
            <a:pPr algn="l" rtl="0"/>
            <a:r>
              <a:rPr lang="en" dirty="0"/>
              <a:t>Using:</a:t>
            </a:r>
          </a:p>
          <a:p>
            <a:pPr algn="l" rtl="0"/>
            <a:r>
              <a:rPr lang="en" dirty="0"/>
              <a:t>LangGraph for agent orchestration</a:t>
            </a:r>
          </a:p>
          <a:p>
            <a:pPr algn="l" rtl="0"/>
            <a:r>
              <a:rPr lang="en" dirty="0" err="1"/>
              <a:t>LangSmith</a:t>
            </a:r>
            <a:r>
              <a:rPr lang="en" dirty="0"/>
              <a:t> for monitoring and evaluation</a:t>
            </a:r>
          </a:p>
          <a:p>
            <a:pPr algn="l" rtl="0"/>
            <a:r>
              <a:rPr lang="en" dirty="0"/>
              <a:t>LLMs for reasoning</a:t>
            </a:r>
          </a:p>
          <a:p>
            <a:pPr algn="l" rtl="0"/>
            <a:r>
              <a:rPr lang="en" dirty="0"/>
              <a:t>The platform enables analysts to extract insights from large financial datasets efficiently.</a:t>
            </a:r>
          </a:p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833306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5549EF7-1D2E-A7E4-9411-85EF23A5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" b="1" dirty="0"/>
              <a:t>Reference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A966C95-2387-C0C5-DF1D-2CCDBA3FC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>
              <a:buNone/>
            </a:pPr>
            <a:r>
              <a:rPr lang="en" dirty="0" err="1"/>
              <a:t>LangChain</a:t>
            </a:r>
            <a:r>
              <a:rPr lang="en" dirty="0"/>
              <a:t> Blog</a:t>
            </a:r>
          </a:p>
          <a:p>
            <a:pPr marL="0" indent="0" algn="l" rtl="0">
              <a:buNone/>
            </a:pPr>
            <a:r>
              <a:rPr lang="en" dirty="0"/>
              <a:t>“How </a:t>
            </a:r>
            <a:r>
              <a:rPr lang="en" dirty="0" err="1"/>
              <a:t>Captide</a:t>
            </a:r>
            <a:r>
              <a:rPr lang="en" dirty="0"/>
              <a:t> is redefining equity research with agentic workflows built on LangGraph and </a:t>
            </a:r>
            <a:r>
              <a:rPr lang="en" dirty="0" err="1"/>
              <a:t>LangSmith</a:t>
            </a:r>
            <a:r>
              <a:rPr lang="en" dirty="0"/>
              <a:t>”</a:t>
            </a: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995564467"/>
      </p:ext>
    </p:extLst>
  </p:cSld>
  <p:clrMapOvr>
    <a:masterClrMapping/>
  </p:clrMapOvr>
</p:sld>
</file>

<file path=ppt/theme/theme1.xml><?xml version="1.0" encoding="utf-8"?>
<a:theme xmlns:a="http://schemas.openxmlformats.org/drawingml/2006/main" name="قص">
  <a:themeElements>
    <a:clrScheme name="قص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قص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قص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17</TotalTime>
  <Words>470</Words>
  <Application>Microsoft Macintosh PowerPoint</Application>
  <PresentationFormat>شاشة عريضة</PresentationFormat>
  <Paragraphs>74</Paragraphs>
  <Slides>11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11</vt:i4>
      </vt:variant>
    </vt:vector>
  </HeadingPairs>
  <TitlesOfParts>
    <vt:vector size="14" baseType="lpstr">
      <vt:lpstr>Arial</vt:lpstr>
      <vt:lpstr>Franklin Gothic Book</vt:lpstr>
      <vt:lpstr>قص</vt:lpstr>
      <vt:lpstr>Agentic AI Case Study: Captide</vt:lpstr>
      <vt:lpstr>Captide</vt:lpstr>
      <vt:lpstr>Industry: Finance / Investment Research </vt:lpstr>
      <vt:lpstr>Investment analysts face several challenges: </vt:lpstr>
      <vt:lpstr>Captide Agentic Platform </vt:lpstr>
      <vt:lpstr>System Architecture</vt:lpstr>
      <vt:lpstr>What is Agentic?</vt:lpstr>
      <vt:lpstr>What is NOT Agentic</vt:lpstr>
      <vt:lpstr>Captide’s system provides:</vt:lpstr>
      <vt:lpstr>Conclusion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AMERA MESHAL H ALHARBI</dc:creator>
  <cp:lastModifiedBy>AMERA MESHAL H ALHARBI</cp:lastModifiedBy>
  <cp:revision>1</cp:revision>
  <dcterms:created xsi:type="dcterms:W3CDTF">2026-03-10T21:24:40Z</dcterms:created>
  <dcterms:modified xsi:type="dcterms:W3CDTF">2026-03-10T21:41:59Z</dcterms:modified>
</cp:coreProperties>
</file>